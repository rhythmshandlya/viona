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303520" cy="5303520"/>
          </a:xfrm>
          <a:prstGeom prst="ellipse">
            <a:avLst/>
          </a:prstGeom>
          <a:solidFill>
            <a:srgbClr val="8B5CF6">
              <a:alpha val="17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645920"/>
            <a:ext cx="2926080" cy="2926080"/>
          </a:xfrm>
          <a:prstGeom prst="ellipse">
            <a:avLst/>
          </a:prstGeom>
          <a:solidFill>
            <a:srgbClr val="A78BFA">
              <a:alpha val="13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VIONA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editing is hard.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automated 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used to take hours in Premiere Pro and After Effects now takes minutes.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645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rhythm@tryspotlight.co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polished Short can eat a full day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Premiere Pro and After Effects.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65176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01952"/>
            <a:ext cx="265176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075688"/>
            <a:ext cx="512064" cy="51206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037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7249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3–6 Hours Per Video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300984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Trimming, cutting, and assembling a clean edit in Premiere Pro takes hours — even for experienced editors. At that pace, consistency is impossible.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901952"/>
            <a:ext cx="265176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901952"/>
            <a:ext cx="265176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2075688"/>
            <a:ext cx="512064" cy="51206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2037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47288" y="27249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Effects Is Its Own Job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47288" y="3300984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graphics, animated captions, and synced visuals require After Effects skills that take years to master. Most creators can't do it or can't afford it.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901952"/>
            <a:ext cx="265176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901952"/>
            <a:ext cx="2651760" cy="411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9632" y="2075688"/>
            <a:ext cx="512064" cy="51206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20370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27249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Tools for One Video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36208" y="3300984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for editing. After Effects for animation. A caption app. A B-roll library. An audio tool. One video, five workflows, zero automation.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massive, fast-growing market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ripe for disruption.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1284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50B+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videos viewed daily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TikTok, Reels &amp; Shorts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0"/>
            <a:ext cx="2560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21284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200M+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47472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content creators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603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21284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$250B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30936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creator economy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is the highest-engagement content format across every major platform — and the gap between raw footage and a polished video has never been wider.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410005" cy="237744"/>
          </a:xfrm>
          <a:prstGeom prst="rect">
            <a:avLst/>
          </a:prstGeom>
          <a:solidFill>
            <a:srgbClr val="1A1533"/>
          </a:solidFill>
          <a:ln w="12700">
            <a:solidFill>
              <a:srgbClr val="1A15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entire editing stack.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93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STACK  —  HOURS OF WORK  ·  EXPERT SKILLS  ·  5 SEPARATE TOOLS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1572768" cy="950976"/>
          </a:xfrm>
          <a:prstGeom prst="rect">
            <a:avLst/>
          </a:prstGeom>
          <a:solidFill>
            <a:srgbClr val="131026"/>
          </a:solidFill>
          <a:ln w="12700">
            <a:solidFill>
              <a:srgbClr val="2D2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933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Premiere Pro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115568" cy="0"/>
          </a:xfrm>
          <a:prstGeom prst="line">
            <a:avLst/>
          </a:prstGeom>
          <a:noFill/>
          <a:ln w="9525">
            <a:solidFill>
              <a:srgbClr val="2A24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323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21408" y="1847088"/>
            <a:ext cx="1572768" cy="950976"/>
          </a:xfrm>
          <a:prstGeom prst="rect">
            <a:avLst/>
          </a:prstGeom>
          <a:solidFill>
            <a:srgbClr val="131026"/>
          </a:solidFill>
          <a:ln w="12700">
            <a:solidFill>
              <a:srgbClr val="2D2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9933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Effects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50008" y="2359152"/>
            <a:ext cx="1115568" cy="0"/>
          </a:xfrm>
          <a:prstGeom prst="line">
            <a:avLst/>
          </a:prstGeom>
          <a:noFill/>
          <a:ln w="9525">
            <a:solidFill>
              <a:srgbClr val="2A2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2848" y="24323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graphics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85616" y="1847088"/>
            <a:ext cx="1572768" cy="950976"/>
          </a:xfrm>
          <a:prstGeom prst="rect">
            <a:avLst/>
          </a:prstGeom>
          <a:solidFill>
            <a:srgbClr val="131026"/>
          </a:solidFill>
          <a:ln w="12700">
            <a:solidFill>
              <a:srgbClr val="2D2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9933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14216" y="2359152"/>
            <a:ext cx="1115568" cy="0"/>
          </a:xfrm>
          <a:prstGeom prst="line">
            <a:avLst/>
          </a:prstGeom>
          <a:noFill/>
          <a:ln w="9525">
            <a:solidFill>
              <a:srgbClr val="2A24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24323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&amp; cuts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49824" y="1847088"/>
            <a:ext cx="1572768" cy="950976"/>
          </a:xfrm>
          <a:prstGeom prst="rect">
            <a:avLst/>
          </a:prstGeom>
          <a:solidFill>
            <a:srgbClr val="131026"/>
          </a:solidFill>
          <a:ln w="12700">
            <a:solidFill>
              <a:srgbClr val="2D2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19933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78424" y="2359152"/>
            <a:ext cx="1115568" cy="0"/>
          </a:xfrm>
          <a:prstGeom prst="line">
            <a:avLst/>
          </a:prstGeom>
          <a:noFill/>
          <a:ln w="9525">
            <a:solidFill>
              <a:srgbClr val="2A24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24323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SFX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14032" y="1847088"/>
            <a:ext cx="1572768" cy="950976"/>
          </a:xfrm>
          <a:prstGeom prst="rect">
            <a:avLst/>
          </a:prstGeom>
          <a:solidFill>
            <a:srgbClr val="131026"/>
          </a:solidFill>
          <a:ln w="12700">
            <a:solidFill>
              <a:srgbClr val="2D2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9933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5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Storyblocks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42632" y="2359152"/>
            <a:ext cx="1115568" cy="0"/>
          </a:xfrm>
          <a:prstGeom prst="line">
            <a:avLst/>
          </a:prstGeom>
          <a:noFill/>
          <a:ln w="9525">
            <a:solidFill>
              <a:srgbClr val="2A24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4323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B-roll footage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871216"/>
            <a:ext cx="0" cy="21945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305409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552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VIONA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529584"/>
            <a:ext cx="8229600" cy="1353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sx="100000" sy="100000" kx="0" ky="0" algn="bl" rotWithShape="0" blurRad="254000" dist="25400" dir="8100000">
              <a:srgbClr val="8B5CF6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529584"/>
            <a:ext cx="17373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VIONA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377440" y="3657600"/>
            <a:ext cx="0" cy="111556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73075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&amp; Brand Kit   ·   30+ Templates   ·   AI Editing   ·   Motion Graphics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0" y="415137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&amp; Music   ·   Auto-Captions   ·   B-Roll   ·   Timeline Editor   ·   Publish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60320" y="457200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No switching. No expertise required.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creator studio. Built around your brand.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431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802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4592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Kit &amp; 30+ Templates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20116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logo, colors, and fonts. Pick from 30+ caption and visual templates — or let AI select the optimal style for your content automatically.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3931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508760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19431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0802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4592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Editing Pipeline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23560" y="20116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Creative Director agent trims dead air, cuts bad takes, stitches clips, and generates animated visuals — end-to-end, before you've touched a timeline.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2999232"/>
            <a:ext cx="3931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999232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" y="343357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707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13639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Captions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325880" y="350215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animated caption styles synced word-by-word to your audio — karaoke, elastic-pop, typewriter, and more. Matches hand-crafted After Effects work.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2999232"/>
            <a:ext cx="3931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999232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9472" y="343357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5707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13639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Design &amp; Full Timeline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623560" y="3502152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SFX, and audio enhancement applied automatically. Fine-tune every cut, caption, and visual on a full professional timeline before publishing.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technically defensible AI pipeline.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Viona is not a thin wrapper over a language model — it's a multi-stage AI pipeline that generates,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evaluates, and iterates on code-driven visuals, autonomously.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560320" cy="2487168"/>
          </a:xfrm>
          <a:prstGeom prst="rect">
            <a:avLst/>
          </a:prstGeom>
          <a:solidFill>
            <a:srgbClr val="0D0B18"/>
          </a:solidFill>
          <a:ln w="12700">
            <a:solidFill>
              <a:srgbClr val="0D0B18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249631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633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1729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Agent SDK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593592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Viona's Creative Director uses Claude Agent SDK to plan visuals, generate React/TSX components, screenshot them via MCP, evaluate quality, and self-heal errors — all in one autonomous loop.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331720"/>
            <a:ext cx="2560320" cy="2487168"/>
          </a:xfrm>
          <a:prstGeom prst="rect">
            <a:avLst/>
          </a:prstGeom>
          <a:solidFill>
            <a:srgbClr val="0D0B18"/>
          </a:solidFill>
          <a:ln w="12700">
            <a:solidFill>
              <a:srgbClr val="0D0B18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38144" y="249631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633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1729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Remotion Renderer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93008" y="3593592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React components are bundled and rendered frame-by-frame by Remotion, enabling pixel-perfect animated visuals that sync to word-level transcript timestamps.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331720"/>
            <a:ext cx="2560320" cy="2487168"/>
          </a:xfrm>
          <a:prstGeom prst="rect">
            <a:avLst/>
          </a:prstGeom>
          <a:solidFill>
            <a:srgbClr val="0D0B18"/>
          </a:solidFill>
          <a:ln w="12700">
            <a:solidFill>
              <a:srgbClr val="0D0B18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249631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6334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1729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WhisperX Transcription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7648" y="3593592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speech alignment using WhisperX gives Viona precise timestamps — enabling captions and visuals that sync to the spoken word, not just the sentence.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forces have aligned.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947672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0848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6517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Short-Form Explosion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10896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YouTube Shorts, and TikTok have made short-form video the dominant content format. Demand for polished, frequent content has never been higher — and creators can't keep up.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93008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38144" y="1947672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08483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6517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Finally Capable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93008" y="310896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Claude can now generate, evaluate, and iterate on code-driven visuals autonomously. This capability didn't exist two years ago. Viona is only feasible now.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27648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72784" y="1947672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848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27648" y="26517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Tool Fatigue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27648" y="310896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creator stack is fragmented, expensive, and requires technical skill. There's a clear opening for a unified, AI-native editor built for non-technical creators.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with short-form.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edit everything.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8046720" cy="0"/>
          </a:xfrm>
          <a:prstGeom prst="line">
            <a:avLst/>
          </a:prstGeom>
          <a:noFill/>
          <a:ln w="3175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029968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651760"/>
            <a:ext cx="228600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11707" y="2816352"/>
            <a:ext cx="668426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1707" y="2816352"/>
            <a:ext cx="668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4088" y="314553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Short-Form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" y="3858768"/>
            <a:ext cx="188366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409651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TikTok, YT Shorts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" y="437083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7939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Auto-edit with brand templates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" y="464515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53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timeline editor &amp; publish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029968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651760"/>
            <a:ext cx="228600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93438" y="2816352"/>
            <a:ext cx="757123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3438" y="2816352"/>
            <a:ext cx="7571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314553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Video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30168" y="3858768"/>
            <a:ext cx="188366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0168" y="40965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(5–30 min)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30168" y="43708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427939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tutorials &amp; podcasts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30168" y="464515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553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2029968"/>
            <a:ext cx="365760" cy="36576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2651760"/>
            <a:ext cx="228600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2125" y="2816352"/>
            <a:ext cx="111191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2125" y="2816352"/>
            <a:ext cx="1111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56248" y="3145536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Autonomous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56248" y="3858768"/>
            <a:ext cx="188366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6248" y="4096512"/>
            <a:ext cx="73152" cy="7315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format, any length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56248" y="4370832"/>
            <a:ext cx="73152" cy="7315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27939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end-to-end editing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56248" y="4645152"/>
            <a:ext cx="73152" cy="7315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553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agency tier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57642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SaaS pricing for creators.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8288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215798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4930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videos /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8039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114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23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subtitle presets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42569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export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50208" y="1426464"/>
            <a:ext cx="1243584" cy="2194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1426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1645920"/>
            <a:ext cx="2560320" cy="3246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54000" dist="25400" dir="8100000">
              <a:srgbClr val="8B5CF6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18288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6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93008" y="21488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3493008" y="28803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3008" y="3246120"/>
            <a:ext cx="2157984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93008" y="349300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videos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93008" y="38039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generation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93008" y="411480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023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15+ subtitle presets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93008" y="442569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export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93008" y="473659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Director Agent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645920"/>
            <a:ext cx="25603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27648" y="18288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27648" y="21488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6327648" y="288036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3246120"/>
            <a:ext cx="215798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4930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Creator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38039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rendering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27648" y="4114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4023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export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442569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27648" y="473659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people who've shipped.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1709928"/>
            <a:ext cx="877824" cy="8778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9293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Rhythm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344728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of Viona. Deeply focused on creator tools and AI-native product experiences.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rhythm@tryspotlight.co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50876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33088" y="1709928"/>
            <a:ext cx="877824" cy="8778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9293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9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56432" y="344728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background — 1–2 sentences on relevant experience and why you're the right person for this role.]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1508760"/>
            <a:ext cx="2560320" cy="3063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67728" y="1709928"/>
            <a:ext cx="877824" cy="8778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9293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91072" y="344728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background — 1–2 sentences on relevant experience and why you're the right person for this role.]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path to a fully autonomous video editor.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6032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64208"/>
            <a:ext cx="680314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64208"/>
            <a:ext cx="680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Short-Form Automation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487168"/>
            <a:ext cx="215798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73405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3347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Auto-transcription (WhisperX)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072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971800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41071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10128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subtitle presets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74904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648456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enhancement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08736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86784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Director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462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3136392"/>
            <a:ext cx="18288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3291840" y="1481328"/>
            <a:ext cx="2560320" cy="3310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54000" dist="25400" dir="8100000">
              <a:srgbClr val="8B5CF6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1664208"/>
            <a:ext cx="769925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1664208"/>
            <a:ext cx="769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93008" y="19933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Scale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93008" y="2487168"/>
            <a:ext cx="2157984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273405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63347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creator base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93008" y="3072384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2971800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formats (5–30 min)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93008" y="3410712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3310128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IG, TikTok &amp; YouTube integrations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93008" y="374904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3648456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93008" y="408736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3986784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93008" y="4462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$[X]M  ·  18 months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97880" y="3136392"/>
            <a:ext cx="18288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6126480" y="1481328"/>
            <a:ext cx="2560320" cy="3310128"/>
          </a:xfrm>
          <a:prstGeom prst="rect">
            <a:avLst/>
          </a:prstGeom>
          <a:solidFill>
            <a:srgbClr val="F5F3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27000" dist="25400" dir="8100000">
              <a:srgbClr val="1E1B4B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7648" y="1664208"/>
            <a:ext cx="112837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1664208"/>
            <a:ext cx="1128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27648" y="19933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Autonomous Editor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27648" y="2487168"/>
            <a:ext cx="2157984" cy="0"/>
          </a:xfrm>
          <a:prstGeom prst="line">
            <a:avLst/>
          </a:prstGeom>
          <a:noFill/>
          <a:ln w="9525">
            <a:solidFill>
              <a:srgbClr val="E9D5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273405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2633472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formats &amp; lengths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30723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2971800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end-to-end editing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27648" y="34107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3310128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agency tier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27648" y="374904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3648456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fine-tuning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27648" y="408736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3986784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marketplace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27648" y="4462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·  TBD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011680"/>
            <a:ext cx="5029200" cy="50292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389120" cy="438912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410005" cy="237744"/>
          </a:xfrm>
          <a:prstGeom prst="rect">
            <a:avLst/>
          </a:prstGeom>
          <a:solidFill>
            <a:srgbClr val="1A1533"/>
          </a:solidFill>
          <a:ln w="12700">
            <a:solidFill>
              <a:srgbClr val="1A15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AI-native video creation platform.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is how the world learns, sells, and communicates.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takes expertise and hours. Viona makes it as easy as having a conversation.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8229600" cy="2103120"/>
          </a:xfrm>
          <a:prstGeom prst="rect">
            <a:avLst/>
          </a:prstGeom>
          <a:solidFill>
            <a:srgbClr val="1A1533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79400" dist="50800" dir="8100000">
              <a:srgbClr val="8B5CF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$[X]M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49808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2724912"/>
            <a:ext cx="0" cy="1828800"/>
          </a:xfrm>
          <a:prstGeom prst="line">
            <a:avLst/>
          </a:prstGeom>
          <a:noFill/>
          <a:ln w="12700">
            <a:solidFill>
              <a:srgbClr val="2D2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30368" y="3273552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31638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  50%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0368" y="365760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547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partnerships  30%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30368" y="404164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3931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AI compute  20%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rhythm@tryspotlight.co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Viona — Investor Deck 2026</dc:title>
  <dc:subject>PptxGenJS Presentation</dc:subject>
  <dc:creator>PptxGenJS</dc:creator>
  <cp:lastModifiedBy>PptxGenJS</cp:lastModifiedBy>
  <cp:revision>1</cp:revision>
  <dcterms:created xsi:type="dcterms:W3CDTF">2026-03-26T12:23:46Z</dcterms:created>
  <dcterms:modified xsi:type="dcterms:W3CDTF">2026-03-26T12:23:46Z</dcterms:modified>
</cp:coreProperties>
</file>